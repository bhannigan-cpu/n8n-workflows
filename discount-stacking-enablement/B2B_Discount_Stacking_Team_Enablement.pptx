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6B6B"/>
                </a:solidFill>
                <a:latin typeface="Calibri"/>
              </a:rPr>
              <a:t>B2B DISCOUNT STACKING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Equip your team for supplier conversations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C8D4DE"/>
                </a:solidFill>
                <a:latin typeface="Calibri"/>
              </a:rPr>
              <a:t>Starting November 9, Everyday B2B discounts and item-level deals stack on top of live B2C promo costs. Your job: help suppliers choose the right Everyday B2B setting before go-live—without watering down holiday promos.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9AB0BE"/>
                </a:solidFill>
                <a:latin typeface="Calibri"/>
              </a:rPr>
              <a:t>What you'll walk away with: timeline · ask ladder · who to call first · conversation guardrails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B78"/>
                </a:solidFill>
                <a:latin typeface="Calibri"/>
              </a:rPr>
              <a:t>B2B Discount Stacking · Internal enablement ·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B78"/>
                </a:solidFill>
                <a:latin typeface="Calibri"/>
              </a:rPr>
              <a:t>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B1F33"/>
                </a:solidFill>
                <a:latin typeface="Calibri"/>
              </a:rPr>
              <a:t>Timeline &amp; key 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B78"/>
                </a:solidFill>
                <a:latin typeface="Calibri"/>
              </a:rPr>
              <a:t>Whatever is in Pricing Home on Nov 9 is what stacks. Waiting = choosing to keep current [X]%.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64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109728" cy="868680"/>
          </a:xfrm>
          <a:prstGeom prst="rect">
            <a:avLst/>
          </a:prstGeom>
          <a:solidFill>
            <a:srgbClr val="0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35607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F6B6B"/>
                </a:solidFill>
                <a:latin typeface="Calibri"/>
              </a:rPr>
              <a:t>Sep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435607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1F33"/>
                </a:solidFill>
                <a:latin typeface="Calibri"/>
              </a:rPr>
              <a:t>Growth@ notice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490472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C3A47"/>
                </a:solidFill>
                <a:latin typeface="Calibri"/>
              </a:rPr>
              <a:t>Supplier email deployed. Do not assume read — follow up within 48 hours.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11064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286000"/>
            <a:ext cx="109728" cy="868680"/>
          </a:xfrm>
          <a:prstGeom prst="rect">
            <a:avLst/>
          </a:prstGeom>
          <a:solidFill>
            <a:srgbClr val="0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9572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F6B6B"/>
                </a:solidFill>
                <a:latin typeface="Calibri"/>
              </a:rPr>
              <a:t>Early Oct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395728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1F33"/>
                </a:solidFill>
                <a:latin typeface="Calibri"/>
              </a:rPr>
              <a:t>Partner Home 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450592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C3A47"/>
                </a:solidFill>
                <a:latin typeface="Calibri"/>
              </a:rPr>
              <a:t>Net stacked cost calculator live so suppliers can see the math.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246120"/>
            <a:ext cx="11064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246120"/>
            <a:ext cx="109728" cy="868680"/>
          </a:xfrm>
          <a:prstGeom prst="rect">
            <a:avLst/>
          </a:prstGeom>
          <a:solidFill>
            <a:srgbClr val="0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35584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F6B6B"/>
                </a:solidFill>
                <a:latin typeface="Calibri"/>
              </a:rPr>
              <a:t>Oct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355848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1F33"/>
                </a:solidFill>
                <a:latin typeface="Calibri"/>
              </a:rPr>
              <a:t>Supplier webinar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410712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C3A47"/>
                </a:solidFill>
                <a:latin typeface="Calibri"/>
              </a:rPr>
              <a:t>11:00 AM ET — push pricing/finance leads to attend.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06240"/>
            <a:ext cx="11064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206240"/>
            <a:ext cx="109728" cy="868680"/>
          </a:xfrm>
          <a:prstGeom prst="rect">
            <a:avLst/>
          </a:prstGeom>
          <a:solidFill>
            <a:srgbClr val="B56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31596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B56A0F"/>
                </a:solidFill>
                <a:latin typeface="Calibri"/>
              </a:rPr>
              <a:t>Nov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315968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1F33"/>
                </a:solidFill>
                <a:latin typeface="Calibri"/>
              </a:rPr>
              <a:t>Final confirmation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370831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C3A47"/>
                </a:solidFill>
                <a:latin typeface="Calibri"/>
              </a:rPr>
              <a:t>Pricing Home updated OR explicit confirmation to keep [X]%.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166359"/>
            <a:ext cx="11064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166359"/>
            <a:ext cx="109728" cy="868680"/>
          </a:xfrm>
          <a:prstGeom prst="rect">
            <a:avLst/>
          </a:prstGeom>
          <a:solidFill>
            <a:srgbClr val="1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27608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B3A"/>
                </a:solidFill>
                <a:latin typeface="Calibri"/>
              </a:rPr>
              <a:t>Nov 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5276088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1F33"/>
                </a:solidFill>
                <a:latin typeface="Calibri"/>
              </a:rPr>
              <a:t>GO-LIVE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5330951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C3A47"/>
                </a:solidFill>
                <a:latin typeface="Calibri"/>
              </a:rPr>
              <a:t>Backend switch flips. Spot-check hero SKUs across your catalog.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B78"/>
                </a:solidFill>
                <a:latin typeface="Calibri"/>
              </a:rPr>
              <a:t>Support: #temp-stacking-questions-26  ·  Office hours: NA Tue/Thu 3:30 PM ET · WGS Wed 4:00 PM 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B78"/>
                </a:solidFill>
                <a:latin typeface="Calibri"/>
              </a:rPr>
              <a:t>B2B Discount Stacking · Internal enablement ·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B78"/>
                </a:solidFill>
                <a:latin typeface="Calibri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B1F33"/>
                </a:solidFill>
                <a:latin typeface="Calibri"/>
              </a:rPr>
              <a:t>The ask ladder — work top-down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B78"/>
                </a:solidFill>
                <a:latin typeface="Calibri"/>
              </a:rPr>
              <a:t>[X]% = Everyday B2B on file today   ·   [Y]% = L90D realized/effective B2B during promotions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64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822960" cy="1051560"/>
          </a:xfrm>
          <a:prstGeom prst="rect">
            <a:avLst/>
          </a:prstGeom>
          <a:solidFill>
            <a:srgbClr val="1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46303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1F33"/>
                </a:solidFill>
                <a:latin typeface="Calibri"/>
              </a:rPr>
              <a:t>PREFERRED  ·  Keep discounts the same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7830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A47"/>
                </a:solidFill>
                <a:latin typeface="Calibri"/>
              </a:rPr>
              <a:t>Maintain current [X]% — Best outcome for Pro traffic, badge, and sales velocity. Lead with this.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14600"/>
            <a:ext cx="11064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822960" cy="1051560"/>
          </a:xfrm>
          <a:prstGeom prst="rect">
            <a:avLst/>
          </a:prstGeom>
          <a:solidFill>
            <a:srgbClr val="0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8892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651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1F33"/>
                </a:solidFill>
                <a:latin typeface="Calibri"/>
              </a:rPr>
              <a:t>Drop to realized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9718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A47"/>
                </a:solidFill>
                <a:latin typeface="Calibri"/>
              </a:rPr>
              <a:t>Align Everyday B2B to [Y]% — Investment-neutral. Matches what their P&amp;L actually delivered over L90D.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03320"/>
            <a:ext cx="11064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703320"/>
            <a:ext cx="822960" cy="1051560"/>
          </a:xfrm>
          <a:prstGeom prst="rect">
            <a:avLst/>
          </a:prstGeom>
          <a:solidFill>
            <a:srgbClr val="B56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77639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8404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1F33"/>
                </a:solidFill>
                <a:latin typeface="Calibri"/>
              </a:rPr>
              <a:t>Drop to 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1605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A47"/>
                </a:solidFill>
                <a:latin typeface="Calibri"/>
              </a:rPr>
              <a:t>Deliberate choice only — Acceptable if escalated. Confirm they understand total loss of Pro merchandising.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983480"/>
            <a:ext cx="11064240" cy="1234440"/>
          </a:xfrm>
          <a:prstGeom prst="rect">
            <a:avLst/>
          </a:prstGeom>
          <a:solidFill>
            <a:srgbClr val="FDF0F0"/>
          </a:solidFill>
          <a:ln w="12700">
            <a:solidFill>
              <a:srgbClr val="E8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9B2C2C"/>
                </a:solidFill>
                <a:latin typeface="Calibri"/>
              </a:rPr>
              <a:t>NON-NEGOTIABLE GUARDRAIL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A47"/>
                </a:solidFill>
                <a:latin typeface="Calibri"/>
              </a:rPr>
              <a:t>Never change promo depth or B2C pricing to fund B2B. Consumer events and Pro pricing are separate decisions. If stacked Pro cost is too rich → change Everyday B2B only (keep [X]%, move to [Y]%, or go to 0%).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B78"/>
                </a:solidFill>
                <a:latin typeface="Calibri"/>
              </a:rPr>
              <a:t>B2B Discount Stacking · Internal enablement ·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B78"/>
                </a:solidFill>
                <a:latin typeface="Calibri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B1F33"/>
                </a:solidFill>
                <a:latin typeface="Calibri"/>
              </a:rPr>
              <a:t>Who to call first &amp; what changed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54864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1F33"/>
                </a:solidFill>
                <a:latin typeface="Calibri"/>
              </a:rPr>
              <a:t>Outreach priority order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64592" cy="640080"/>
          </a:xfrm>
          <a:prstGeom prst="rect">
            <a:avLst/>
          </a:prstGeom>
          <a:solidFill>
            <a:srgbClr val="9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Egregious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659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B78"/>
                </a:solidFill>
                <a:latin typeface="Calibri"/>
              </a:rPr>
              <a:t>Stacked &gt;20% or big gap vs L90D  ·  Required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468880"/>
            <a:ext cx="164592" cy="640080"/>
          </a:xfrm>
          <a:prstGeom prst="rect">
            <a:avLst/>
          </a:prstGeom>
          <a:solidFill>
            <a:srgbClr val="B56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4688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Full erosion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B78"/>
                </a:solidFill>
                <a:latin typeface="Calibri"/>
              </a:rPr>
              <a:t>High [X]% on paper, ~0% delivered  ·  Highly recommended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46120"/>
            <a:ext cx="164592" cy="640080"/>
          </a:xfrm>
          <a:prstGeom prst="rect">
            <a:avLst/>
          </a:prstGeom>
          <a:solidFill>
            <a:srgbClr val="0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2461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Partial erosion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5204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B78"/>
                </a:solidFill>
                <a:latin typeface="Calibri"/>
              </a:rPr>
              <a:t>Moderate gap between [X] and [Y]  ·  Recommended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23360"/>
            <a:ext cx="164592" cy="640080"/>
          </a:xfrm>
          <a:prstGeom prst="rect">
            <a:avLst/>
          </a:prstGeom>
          <a:solidFill>
            <a:srgbClr val="5B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0233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Limited erosion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2976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B78"/>
                </a:solidFill>
                <a:latin typeface="Calibri"/>
              </a:rPr>
              <a:t>&lt;1% difference [X] vs [Y]  ·  Optional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800600"/>
            <a:ext cx="164592" cy="640080"/>
          </a:xfrm>
          <a:prstGeom prst="rect">
            <a:avLst/>
          </a:prstGeom>
          <a:solidFill>
            <a:srgbClr val="5B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8006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Zero Everyday B2B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0749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B78"/>
                </a:solidFill>
                <a:latin typeface="Calibri"/>
              </a:rPr>
              <a:t>No discount on file  ·  No outreach required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051560"/>
            <a:ext cx="53492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1F33"/>
                </a:solidFill>
                <a:latin typeface="Calibri"/>
              </a:rPr>
              <a:t>Know these rules cold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16916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6B6B"/>
                </a:solidFill>
                <a:latin typeface="Calibri"/>
              </a:rPr>
              <a:t>Stacking hierarchy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947672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A47"/>
                </a:solidFill>
                <a:latin typeface="Calibri"/>
              </a:rPr>
              <a:t>Base → live B2C promo → Everyday B2B off that promo cost. Ex: $100 → 10% promo = $90 → 5% B2B = $85.50 Pro cost.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697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6B6B"/>
                </a:solidFill>
                <a:latin typeface="Calibri"/>
              </a:rPr>
              <a:t>Flash / DOTD / Doorbusters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953512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A47"/>
                </a:solidFill>
                <a:latin typeface="Calibri"/>
              </a:rPr>
              <a:t>Stack on live B2C promo, not on Everyday B2B. Lowest price wins; Pro flag may pause when Flash beats B2B.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703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6B6B"/>
                </a:solidFill>
                <a:latin typeface="Calibri"/>
              </a:rPr>
              <a:t>No room stacking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959352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A47"/>
                </a:solidFill>
                <a:latin typeface="Calibri"/>
              </a:rPr>
              <a:t>Event / weekend / superroom discounts still do not stack with each other.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709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6B6B"/>
                </a:solidFill>
                <a:latin typeface="Calibri"/>
              </a:rPr>
              <a:t>Promo-room B2B gone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965192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A47"/>
                </a:solidFill>
                <a:latin typeface="Calibri"/>
              </a:rPr>
              <a:t>B2B column in promo rooms is eliminated Nov 9. Pro pricing must live as Everyday B2B in Pricing Home.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B78"/>
                </a:solidFill>
                <a:latin typeface="Calibri"/>
              </a:rPr>
              <a:t>B2B Discount Stacking · Internal enablement ·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B78"/>
                </a:solidFill>
                <a:latin typeface="Calibri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B1F33"/>
                </a:solidFill>
                <a:latin typeface="Calibri"/>
              </a:rPr>
              <a:t>How to handle the conversation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1234440"/>
          </a:xfrm>
          <a:prstGeom prst="rect">
            <a:avLst/>
          </a:prstGeom>
          <a:solidFill>
            <a:srgbClr val="E6F3F3"/>
          </a:solidFill>
          <a:ln w="12700">
            <a:solidFill>
              <a:srgbClr val="0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6B6B"/>
                </a:solidFill>
                <a:latin typeface="Calibri"/>
              </a:rPr>
              <a:t>THE CLOSING FORK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1F33"/>
                </a:solidFill>
                <a:latin typeface="Calibri"/>
              </a:rPr>
              <a:t>“Does [X]% represent what you want to deliver during holiday events, or is [Y]% the more realistic number for your margin?”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35661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514600"/>
            <a:ext cx="3566160" cy="109728"/>
          </a:xfrm>
          <a:prstGeom prst="rect">
            <a:avLst/>
          </a:prstGeom>
          <a:solidFill>
            <a:srgbClr val="0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If they call it a margin grab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A47"/>
                </a:solidFill>
                <a:latin typeface="Calibri"/>
              </a:rPr>
              <a:t>Today [X]% is not what has been invoicing during events—effective has been ~[Y]%. On Nov 9 the system honors Pricing Home. Adjusting to [Y]% keeps net investment where it has been. Face-saving frame: correcting a stale setting, not agreeing to a new rate.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2514600"/>
            <a:ext cx="35661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2514600"/>
            <a:ext cx="3566160" cy="109728"/>
          </a:xfrm>
          <a:prstGeom prst="rect">
            <a:avLst/>
          </a:prstGeom>
          <a:solidFill>
            <a:srgbClr val="0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2743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If they want to thin B2C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324612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A47"/>
                </a:solidFill>
                <a:latin typeface="Calibri"/>
              </a:rPr>
              <a:t>Be direct: we cannot fund Everyday B2B by thinning Black Friday / Cyber submissions. Consumer events stand alone. If stacked Pro is too rich, change Everyday B2B only.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2514600"/>
            <a:ext cx="35661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2514600"/>
            <a:ext cx="3566160" cy="109728"/>
          </a:xfrm>
          <a:prstGeom prst="rect">
            <a:avLst/>
          </a:prstGeom>
          <a:solidFill>
            <a:srgbClr val="0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9" y="2743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If they jump to 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9" y="324612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A47"/>
                </a:solidFill>
                <a:latin typeface="Calibri"/>
              </a:rPr>
              <a:t>They can—and it takes effect immediately. Name what turns off: Pro Price flag, Pro Price filter (#1 on Pro site), and conversion. Offer to park at [Y]% through Q4 and revisit in January. If they hold: log 0% as their decision.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B78"/>
                </a:solidFill>
                <a:latin typeface="Calibri"/>
              </a:rPr>
              <a:t>Paper trail: document whether they chose keep [X]%, align to [Y]%, or drop to 0%. Ghosting: follow up Growth@ within 48h; for egregious/full-erosion no-shows, escalate to a phone call.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B78"/>
                </a:solidFill>
                <a:latin typeface="Calibri"/>
              </a:rPr>
              <a:t>B2B Discount Stacking · Internal enablement ·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B78"/>
                </a:solidFill>
                <a:latin typeface="Calibri"/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