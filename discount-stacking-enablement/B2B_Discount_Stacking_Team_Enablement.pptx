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F6B6B"/>
                </a:solidFill>
                <a:latin typeface="Calibri"/>
              </a:rPr>
              <a:t>B2B DISCOUNT STACKING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Equip your team for supplier conversations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3832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C8D4DE"/>
                </a:solidFill>
                <a:latin typeface="Calibri"/>
              </a:rPr>
              <a:t>Starting November 9, Everyday B2B discounts and item-level deals stack on top of live B2C promo costs. Your job: help suppliers choose the right Everyday B2B setting before go-live—without watering down holiday promos.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029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9AB0BE"/>
                </a:solidFill>
                <a:latin typeface="Calibri"/>
              </a:rPr>
              <a:t>What you'll walk away with: timeline · ask ladder · who to call first · conversation guardrails · resources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B78"/>
                </a:solidFill>
                <a:latin typeface="Calibri"/>
              </a:rPr>
              <a:t>B2B Discount Stacking · Internal enablement ·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5B6B78"/>
                </a:solidFill>
                <a:latin typeface="Calibri"/>
              </a:rPr>
              <a:t>1/6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0B1F33"/>
                </a:solidFill>
                <a:latin typeface="Calibri"/>
              </a:rPr>
              <a:t>Timeline &amp; key dates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5B6B78"/>
                </a:solidFill>
                <a:latin typeface="Calibri"/>
              </a:rPr>
              <a:t>Whatever is in Pricing Home on Nov 9 is what stacks. Waiting = choosing to keep current [X]%.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325880"/>
            <a:ext cx="110642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325880"/>
            <a:ext cx="109728" cy="868680"/>
          </a:xfrm>
          <a:prstGeom prst="rect">
            <a:avLst/>
          </a:prstGeom>
          <a:solidFill>
            <a:srgbClr val="0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435607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0F6B6B"/>
                </a:solidFill>
                <a:latin typeface="Calibri"/>
              </a:rPr>
              <a:t>Sep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1435607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B1F33"/>
                </a:solidFill>
                <a:latin typeface="Calibri"/>
              </a:rPr>
              <a:t>Growth@ notice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2160" y="1490472"/>
            <a:ext cx="5486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2C3A47"/>
                </a:solidFill>
                <a:latin typeface="Calibri"/>
              </a:rPr>
              <a:t>Supplier email deployed. Do not assume read — follow up within 48 hours.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286000"/>
            <a:ext cx="110642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2286000"/>
            <a:ext cx="109728" cy="868680"/>
          </a:xfrm>
          <a:prstGeom prst="rect">
            <a:avLst/>
          </a:prstGeom>
          <a:solidFill>
            <a:srgbClr val="0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395728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0F6B6B"/>
                </a:solidFill>
                <a:latin typeface="Calibri"/>
              </a:rPr>
              <a:t>Early Oct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34640" y="2395728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B1F33"/>
                </a:solidFill>
                <a:latin typeface="Calibri"/>
              </a:rPr>
              <a:t>Partner Home visibility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2450592"/>
            <a:ext cx="5486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2C3A47"/>
                </a:solidFill>
                <a:latin typeface="Calibri"/>
              </a:rPr>
              <a:t>Net stacked cost calculator live so suppliers can see the math.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246120"/>
            <a:ext cx="110642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3246120"/>
            <a:ext cx="109728" cy="868680"/>
          </a:xfrm>
          <a:prstGeom prst="rect">
            <a:avLst/>
          </a:prstGeom>
          <a:solidFill>
            <a:srgbClr val="0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3355848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0F6B6B"/>
                </a:solidFill>
                <a:latin typeface="Calibri"/>
              </a:rPr>
              <a:t>Oct 13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40" y="3355848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B1F33"/>
                </a:solidFill>
                <a:latin typeface="Calibri"/>
              </a:rPr>
              <a:t>Supplier webinar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0" y="3410712"/>
            <a:ext cx="5486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2C3A47"/>
                </a:solidFill>
                <a:latin typeface="Calibri"/>
              </a:rPr>
              <a:t>11:00 AM ET — push pricing/finance leads to attend.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206240"/>
            <a:ext cx="110642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4206240"/>
            <a:ext cx="109728" cy="868680"/>
          </a:xfrm>
          <a:prstGeom prst="rect">
            <a:avLst/>
          </a:prstGeom>
          <a:solidFill>
            <a:srgbClr val="B56A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4315968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B56A0F"/>
                </a:solidFill>
                <a:latin typeface="Calibri"/>
              </a:rPr>
              <a:t>Nov 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34640" y="4315968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B1F33"/>
                </a:solidFill>
                <a:latin typeface="Calibri"/>
              </a:rPr>
              <a:t>Final confirmation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52160" y="4370831"/>
            <a:ext cx="5486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2C3A47"/>
                </a:solidFill>
                <a:latin typeface="Calibri"/>
              </a:rPr>
              <a:t>Pricing Home updated OR explicit confirmation to keep [X]%.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5166359"/>
            <a:ext cx="110642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48640" y="5166359"/>
            <a:ext cx="109728" cy="868680"/>
          </a:xfrm>
          <a:prstGeom prst="rect">
            <a:avLst/>
          </a:prstGeom>
          <a:solidFill>
            <a:srgbClr val="1F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5276088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B3A"/>
                </a:solidFill>
                <a:latin typeface="Calibri"/>
              </a:rPr>
              <a:t>Nov 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34640" y="5276088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B1F33"/>
                </a:solidFill>
                <a:latin typeface="Calibri"/>
              </a:rPr>
              <a:t>GO-LIVE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52160" y="5330951"/>
            <a:ext cx="5486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2C3A47"/>
                </a:solidFill>
                <a:latin typeface="Calibri"/>
              </a:rPr>
              <a:t>Backend switch flips. Spot-check hero SKUs across your catalog.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172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B78"/>
                </a:solidFill>
                <a:latin typeface="Calibri"/>
              </a:rPr>
              <a:t>Support details on Resources slide →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B78"/>
                </a:solidFill>
                <a:latin typeface="Calibri"/>
              </a:rPr>
              <a:t>B2B Discount Stacking · Internal enablement · Confidential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5B6B78"/>
                </a:solidFill>
                <a:latin typeface="Calibri"/>
              </a:rPr>
              <a:t>2/6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0B1F33"/>
                </a:solidFill>
                <a:latin typeface="Calibri"/>
              </a:rPr>
              <a:t>The ask ladder — work top-down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B78"/>
                </a:solidFill>
                <a:latin typeface="Calibri"/>
              </a:rPr>
              <a:t>[X]% = Everyday B2B on file today   ·   [Y]% = L90D realized/effective B2B during promotions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325880"/>
            <a:ext cx="1106424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325880"/>
            <a:ext cx="822960" cy="1051560"/>
          </a:xfrm>
          <a:prstGeom prst="rect">
            <a:avLst/>
          </a:prstGeom>
          <a:solidFill>
            <a:srgbClr val="1F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600200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1463039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0B1F33"/>
                </a:solidFill>
                <a:latin typeface="Calibri"/>
              </a:rPr>
              <a:t>PREFERRED  ·  Keep discounts the same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178308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C3A47"/>
                </a:solidFill>
                <a:latin typeface="Calibri"/>
              </a:rPr>
              <a:t>Maintain current [X]% — Best outcome for Pro traffic, badge, and sales velocity. Lead with this.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514600"/>
            <a:ext cx="1106424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2514600"/>
            <a:ext cx="822960" cy="1051560"/>
          </a:xfrm>
          <a:prstGeom prst="rect">
            <a:avLst/>
          </a:prstGeom>
          <a:solidFill>
            <a:srgbClr val="0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2788920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265176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0B1F33"/>
                </a:solidFill>
                <a:latin typeface="Calibri"/>
              </a:rPr>
              <a:t>Drop to realized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200" y="297180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C3A47"/>
                </a:solidFill>
                <a:latin typeface="Calibri"/>
              </a:rPr>
              <a:t>Align Everyday B2B to [Y]% — Investment-neutral. Matches what their P&amp;L actually delivered over L90D.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703320"/>
            <a:ext cx="1106424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3703320"/>
            <a:ext cx="822960" cy="1051560"/>
          </a:xfrm>
          <a:prstGeom prst="rect">
            <a:avLst/>
          </a:prstGeom>
          <a:solidFill>
            <a:srgbClr val="B56A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3977639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384048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0B1F33"/>
                </a:solidFill>
                <a:latin typeface="Calibri"/>
              </a:rPr>
              <a:t>Drop to 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00200" y="416052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C3A47"/>
                </a:solidFill>
                <a:latin typeface="Calibri"/>
              </a:rPr>
              <a:t>Deliberate choice only — Acceptable if escalated. Confirm they understand total loss of Pro merchandising.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983480"/>
            <a:ext cx="11064240" cy="1234440"/>
          </a:xfrm>
          <a:prstGeom prst="rect">
            <a:avLst/>
          </a:prstGeom>
          <a:solidFill>
            <a:srgbClr val="FDF0F0"/>
          </a:solidFill>
          <a:ln w="12700">
            <a:solidFill>
              <a:srgbClr val="E8C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51206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9B2C2C"/>
                </a:solidFill>
                <a:latin typeface="Calibri"/>
              </a:rPr>
              <a:t>NON-NEGOTIABLE GUARDRAIL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54864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C3A47"/>
                </a:solidFill>
                <a:latin typeface="Calibri"/>
              </a:rPr>
              <a:t>Never change promo depth or B2C pricing to fund B2B. Consumer events and Pro pricing are separate decisions. If stacked Pro cost is too rich → change Everyday B2B only (keep [X]%, move to [Y]%, or go to 0%).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B78"/>
                </a:solidFill>
                <a:latin typeface="Calibri"/>
              </a:rPr>
              <a:t>B2B Discount Stacking · Internal enablement · Confidential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5B6B78"/>
                </a:solidFill>
                <a:latin typeface="Calibri"/>
              </a:rPr>
              <a:t>3/6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0B1F33"/>
                </a:solidFill>
                <a:latin typeface="Calibri"/>
              </a:rPr>
              <a:t>Who to call first &amp; what changed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51560"/>
            <a:ext cx="5486400" cy="502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1887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0B1F33"/>
                </a:solidFill>
                <a:latin typeface="Calibri"/>
              </a:rPr>
              <a:t>Outreach priority order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64592" cy="640080"/>
          </a:xfrm>
          <a:prstGeom prst="rect">
            <a:avLst/>
          </a:prstGeom>
          <a:solidFill>
            <a:srgbClr val="9B2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691640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B1F33"/>
                </a:solidFill>
                <a:latin typeface="Calibri"/>
              </a:rPr>
              <a:t>Egregious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965960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B78"/>
                </a:solidFill>
                <a:latin typeface="Calibri"/>
              </a:rPr>
              <a:t>Stacked &gt;20% or big gap vs L90D  ·  Required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2468880"/>
            <a:ext cx="164592" cy="640080"/>
          </a:xfrm>
          <a:prstGeom prst="rect">
            <a:avLst/>
          </a:prstGeom>
          <a:solidFill>
            <a:srgbClr val="B56A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468880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B1F33"/>
                </a:solidFill>
                <a:latin typeface="Calibri"/>
              </a:rPr>
              <a:t>Full erosion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743200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B78"/>
                </a:solidFill>
                <a:latin typeface="Calibri"/>
              </a:rPr>
              <a:t>High [X]% on paper, ~0% delivered  ·  Highly recommended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3246120"/>
            <a:ext cx="164592" cy="640080"/>
          </a:xfrm>
          <a:prstGeom prst="rect">
            <a:avLst/>
          </a:prstGeom>
          <a:solidFill>
            <a:srgbClr val="0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3246120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B1F33"/>
                </a:solidFill>
                <a:latin typeface="Calibri"/>
              </a:rPr>
              <a:t>Partial erosion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520440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B78"/>
                </a:solidFill>
                <a:latin typeface="Calibri"/>
              </a:rPr>
              <a:t>Moderate gap between [X] and [Y]  ·  Recommended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023360"/>
            <a:ext cx="164592" cy="640080"/>
          </a:xfrm>
          <a:prstGeom prst="rect">
            <a:avLst/>
          </a:prstGeom>
          <a:solidFill>
            <a:srgbClr val="5B6B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023360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B1F33"/>
                </a:solidFill>
                <a:latin typeface="Calibri"/>
              </a:rPr>
              <a:t>Limited erosion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297680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B78"/>
                </a:solidFill>
                <a:latin typeface="Calibri"/>
              </a:rPr>
              <a:t>&lt;1% difference [X] vs [Y]  ·  Optional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4800600"/>
            <a:ext cx="164592" cy="640080"/>
          </a:xfrm>
          <a:prstGeom prst="rect">
            <a:avLst/>
          </a:prstGeom>
          <a:solidFill>
            <a:srgbClr val="5B6B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4800600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B1F33"/>
                </a:solidFill>
                <a:latin typeface="Calibri"/>
              </a:rPr>
              <a:t>Zero Everyday B2B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5074920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B78"/>
                </a:solidFill>
                <a:latin typeface="Calibri"/>
              </a:rPr>
              <a:t>No discount on file  ·  No outreach required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63640" y="1051560"/>
            <a:ext cx="5349240" cy="502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118872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0B1F33"/>
                </a:solidFill>
                <a:latin typeface="Calibri"/>
              </a:rPr>
              <a:t>Know these rules cold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169164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F6B6B"/>
                </a:solidFill>
                <a:latin typeface="Calibri"/>
              </a:rPr>
              <a:t>Stacking hierarchy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1947672"/>
            <a:ext cx="4937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C3A47"/>
                </a:solidFill>
                <a:latin typeface="Calibri"/>
              </a:rPr>
              <a:t>Base → live B2C promo → Everyday B2B off that promo cost. Ex: $100 → 10% promo = $90 → 5% B2B = $85.50 Pro cost.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269748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F6B6B"/>
                </a:solidFill>
                <a:latin typeface="Calibri"/>
              </a:rPr>
              <a:t>Flash / DOTD / Doorbusters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2953512"/>
            <a:ext cx="4937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C3A47"/>
                </a:solidFill>
                <a:latin typeface="Calibri"/>
              </a:rPr>
              <a:t>Stack on live B2C promo, not on Everyday B2B. Lowest price wins; Pro flag may pause when Flash beats B2B.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370332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F6B6B"/>
                </a:solidFill>
                <a:latin typeface="Calibri"/>
              </a:rPr>
              <a:t>No room stacking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3959352"/>
            <a:ext cx="4937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C3A47"/>
                </a:solidFill>
                <a:latin typeface="Calibri"/>
              </a:rPr>
              <a:t>Event / weekend / superroom discounts still do not stack with each other.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470916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F6B6B"/>
                </a:solidFill>
                <a:latin typeface="Calibri"/>
              </a:rPr>
              <a:t>Promo-room B2B gone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4965192"/>
            <a:ext cx="4937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C3A47"/>
                </a:solidFill>
                <a:latin typeface="Calibri"/>
              </a:rPr>
              <a:t>B2B column in promo rooms is eliminated Nov 9. Pro pricing must live as Everyday B2B in Pricing Home.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B78"/>
                </a:solidFill>
                <a:latin typeface="Calibri"/>
              </a:rPr>
              <a:t>B2B Discount Stacking · Internal enablement · Confidential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5B6B78"/>
                </a:solidFill>
                <a:latin typeface="Calibri"/>
              </a:rPr>
              <a:t>4/6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0B1F33"/>
                </a:solidFill>
                <a:latin typeface="Calibri"/>
              </a:rPr>
              <a:t>How to handle the conversation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51560"/>
            <a:ext cx="11064240" cy="1234440"/>
          </a:xfrm>
          <a:prstGeom prst="rect">
            <a:avLst/>
          </a:prstGeom>
          <a:solidFill>
            <a:srgbClr val="E6F3F3"/>
          </a:solidFill>
          <a:ln w="12700">
            <a:solidFill>
              <a:srgbClr val="0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1887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F6B6B"/>
                </a:solidFill>
                <a:latin typeface="Calibri"/>
              </a:rPr>
              <a:t>THE CLOSING FORK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5544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B1F33"/>
                </a:solidFill>
                <a:latin typeface="Calibri"/>
              </a:rPr>
              <a:t>“Does [X]% represent what you want to deliver during holiday events, or is [Y]% the more realistic number for your margin?”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514600"/>
            <a:ext cx="356616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514600"/>
            <a:ext cx="3566160" cy="109728"/>
          </a:xfrm>
          <a:prstGeom prst="rect">
            <a:avLst/>
          </a:prstGeom>
          <a:solidFill>
            <a:srgbClr val="0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4320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B1F33"/>
                </a:solidFill>
                <a:latin typeface="Calibri"/>
              </a:rPr>
              <a:t>If they call it a margin grab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246120"/>
            <a:ext cx="3200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C3A47"/>
                </a:solidFill>
                <a:latin typeface="Calibri"/>
              </a:rPr>
              <a:t>Today [X]% is not what has been invoicing during events—effective has been ~[Y]%. On Nov 9 the system honors Pricing Home. Adjusting to [Y]% keeps net investment where it has been. Face-saving frame: correcting a stale setting, not agreeing to a new rate.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79" y="2514600"/>
            <a:ext cx="356616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97679" y="2514600"/>
            <a:ext cx="3566160" cy="109728"/>
          </a:xfrm>
          <a:prstGeom prst="rect">
            <a:avLst/>
          </a:prstGeom>
          <a:solidFill>
            <a:srgbClr val="0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59" y="274320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B1F33"/>
                </a:solidFill>
                <a:latin typeface="Calibri"/>
              </a:rPr>
              <a:t>If they want to thin B2C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59" y="3246120"/>
            <a:ext cx="3200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C3A47"/>
                </a:solidFill>
                <a:latin typeface="Calibri"/>
              </a:rPr>
              <a:t>Be direct: we cannot fund Everyday B2B by thinning Black Friday / Cyber submissions. Consumer events stand alone. If stacked Pro is too rich, change Everyday B2B only.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46719" y="2514600"/>
            <a:ext cx="356616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19" y="2514600"/>
            <a:ext cx="3566160" cy="109728"/>
          </a:xfrm>
          <a:prstGeom prst="rect">
            <a:avLst/>
          </a:prstGeom>
          <a:solidFill>
            <a:srgbClr val="0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599" y="274320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B1F33"/>
                </a:solidFill>
                <a:latin typeface="Calibri"/>
              </a:rPr>
              <a:t>If they jump to 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599" y="3246120"/>
            <a:ext cx="3200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C3A47"/>
                </a:solidFill>
                <a:latin typeface="Calibri"/>
              </a:rPr>
              <a:t>They can—and it takes effect immediately. Name what turns off: Pro Price flag, Pro Price filter (#1 on Pro site), and conversion. Offer to park at [Y]% through Q4 and revisit in January. If they hold: log 0% as their decision.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44068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B78"/>
                </a:solidFill>
                <a:latin typeface="Calibri"/>
              </a:rPr>
              <a:t>Paper trail: document whether they chose keep [X]%, align to [Y]%, or drop to 0%. Ghosting: follow up Growth@ within 48h; for egregious/full-erosion no-shows, escalate to a phone call.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B78"/>
                </a:solidFill>
                <a:latin typeface="Calibri"/>
              </a:rPr>
              <a:t>B2B Discount Stacking · Internal enablement · Confidential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5B6B78"/>
                </a:solidFill>
                <a:latin typeface="Calibri"/>
              </a:rPr>
              <a:t>5/6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0B1F33"/>
                </a:solidFill>
                <a:latin typeface="Calibri"/>
              </a:rPr>
              <a:t>Resources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5B6B78"/>
                </a:solidFill>
                <a:latin typeface="Calibri"/>
              </a:rPr>
              <a:t>Everything your team needs in one place — docs, Slack, and office hours.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325880"/>
            <a:ext cx="548640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087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F6B6B"/>
                </a:solidFill>
                <a:latin typeface="Calibri"/>
              </a:rPr>
              <a:t>CORE DOCUMENTS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011680"/>
            <a:ext cx="5029200" cy="1234440"/>
          </a:xfrm>
          <a:prstGeom prst="rect">
            <a:avLst/>
          </a:prstGeom>
          <a:solidFill>
            <a:srgbClr val="E6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194560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B1F33"/>
                </a:solidFill>
                <a:latin typeface="Calibri"/>
              </a:rPr>
              <a:t>Discount Stacking — SRM Field Playbook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5176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2C3A47"/>
                </a:solidFill>
                <a:latin typeface="Calibri"/>
              </a:rPr>
              <a:t>PDF in this folder · Timeline, ask ladder, talk tracks, FAQs, escalation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429000"/>
            <a:ext cx="5029200" cy="1234440"/>
          </a:xfrm>
          <a:prstGeom prst="rect">
            <a:avLst/>
          </a:prstGeom>
          <a:solidFill>
            <a:srgbClr val="E6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611880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B1F33"/>
                </a:solidFill>
                <a:latin typeface="Calibri"/>
              </a:rPr>
              <a:t>Discount Stacking CM Training Deck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406908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2C3A47"/>
                </a:solidFill>
                <a:latin typeface="Calibri"/>
              </a:rPr>
              <a:t>PDF in this folder · Full mechanics, examples, B2B &amp; item-level deal detail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02920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B78"/>
                </a:solidFill>
                <a:latin typeface="Calibri"/>
              </a:rPr>
              <a:t>Also useful: supplier-level impact data · talk tracks doc · B2B CM InfoHub / Negotiation Hub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1325880"/>
            <a:ext cx="534924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15087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F6B6B"/>
                </a:solidFill>
                <a:latin typeface="Calibri"/>
              </a:rPr>
              <a:t>WHERE TO GET HELP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01168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5B6B78"/>
                </a:solidFill>
                <a:latin typeface="Calibri"/>
              </a:rPr>
              <a:t>Slack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24028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B1F33"/>
                </a:solidFill>
                <a:latin typeface="Calibri"/>
              </a:rPr>
              <a:t>#temp-stacking-questions-26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60604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5B6B78"/>
                </a:solidFill>
                <a:latin typeface="Calibri"/>
              </a:rPr>
              <a:t>Office hours — NA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83464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B1F33"/>
                </a:solidFill>
                <a:latin typeface="Calibri"/>
              </a:rPr>
              <a:t>Tue &amp; Thu · 3:30 PM 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20040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5B6B78"/>
                </a:solidFill>
                <a:latin typeface="Calibri"/>
              </a:rPr>
              <a:t>Office hours — WGS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342900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B1F33"/>
                </a:solidFill>
                <a:latin typeface="Calibri"/>
              </a:rPr>
              <a:t>Wed · 4:00–4:30 PM 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379476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5B6B78"/>
                </a:solidFill>
                <a:latin typeface="Calibri"/>
              </a:rPr>
              <a:t>Supplier webinar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02336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B1F33"/>
                </a:solidFill>
                <a:latin typeface="Calibri"/>
              </a:rPr>
              <a:t>Tue, Oct 13 · 11:00 AM 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438912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5B6B78"/>
                </a:solidFill>
                <a:latin typeface="Calibri"/>
              </a:rPr>
              <a:t>Supplier notice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461772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B1F33"/>
                </a:solidFill>
                <a:latin typeface="Calibri"/>
              </a:rPr>
              <a:t>Growth@ · deployed Sep 28 (follow up within 48h)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498348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5B6B78"/>
                </a:solidFill>
                <a:latin typeface="Calibri"/>
              </a:rPr>
              <a:t>Go-live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521208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B1F33"/>
                </a:solidFill>
                <a:latin typeface="Calibri"/>
              </a:rPr>
              <a:t>Mon, Nov 9 — spot-check hero SKUs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B78"/>
                </a:solidFill>
                <a:latin typeface="Calibri"/>
              </a:rPr>
              <a:t>B2B Discount Stacking · Internal enablement · Confidential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5B6B78"/>
                </a:solidFill>
                <a:latin typeface="Calibri"/>
              </a:rPr>
              <a:t>6/6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